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.fntdata"/><Relationship Id="rId6" Type="http://schemas.openxmlformats.org/officeDocument/2006/relationships/slide" Target="slides/slide1.xml"/><Relationship Id="rId18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60070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277350" y="609600"/>
            <a:ext cx="2305050" cy="3048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6007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2865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429750" y="66675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PROPOSAL IMPLEMENTASI v1.6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273647"/>
            <a:ext cx="10120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Digitalisasi Suplai Material &amp; Precision Tracking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2492722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Transformasi Pelacakan Operator &amp; Siklus Suplai Material Gemba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386045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Mengoptimalkan lead time penyuplaian material ke lini produksi dengan integrasi pendaftaran instan, verifikasi scan lokasi tujuan, dan pangkas waktu henti.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696575" y="6076950"/>
            <a:ext cx="1171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Oktober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28700" y="628650"/>
            <a:ext cx="33575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ZEVA LOGISTIK MATERIAL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5838825"/>
            <a:ext cx="2297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Disiapkan Oleh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6048375"/>
            <a:ext cx="2297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 Project ZEVA Logistik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752725" y="5838825"/>
            <a:ext cx="3524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Implementasi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752725" y="6048375"/>
            <a:ext cx="3524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Operasional Manufaktur / Plant Gemba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609600" y="2843212"/>
            <a:ext cx="3505200" cy="2028825"/>
          </a:xfrm>
          <a:prstGeom prst="roundRect">
            <a:avLst>
              <a:gd fmla="val 5633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343400" y="2933700"/>
            <a:ext cx="3505200" cy="1847850"/>
          </a:xfrm>
          <a:prstGeom prst="roundRect">
            <a:avLst>
              <a:gd fmla="val 6185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8077200" y="2933700"/>
            <a:ext cx="3505200" cy="1847850"/>
          </a:xfrm>
          <a:prstGeom prst="roundRect">
            <a:avLst>
              <a:gd fmla="val 6185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813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1718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1718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3176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32670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0575" y="32670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09600" y="457200"/>
            <a:ext cx="2321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EXECUTIVE SUMMARY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429875" y="457200"/>
            <a:ext cx="1440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Tantangan &amp; Solusi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Mengapa Sistem Suplai Material Membutuhkan Pelacakan Presisi?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7725" y="3614737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rPr>
              <a:t>Tantangan Saat Ini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47725" y="3910012"/>
            <a:ext cx="3124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Waktu tunggu suplai tidak terukur, hambatan pencatatan manual, dan ketiadaan jejak data kedatangan barang di line tujuan.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581525" y="3705225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75985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Solusi ZEVA v1.6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581525" y="4000500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Digitalisasi proses penyuplaian material berbasis QR Code, direct routing operator, dan pencatatan cycle time otomatis.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15325" y="3705225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 Hasil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315325" y="4000500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Peningkatan akurasi suplai 100%, eliminasi salah kirim lokasi, dan transparansi lead time pengiriman per operator.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609600" y="3043237"/>
            <a:ext cx="2600325" cy="1628775"/>
          </a:xfrm>
          <a:prstGeom prst="roundRect">
            <a:avLst>
              <a:gd fmla="val 70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00425" y="3043237"/>
            <a:ext cx="2600325" cy="1628775"/>
          </a:xfrm>
          <a:prstGeom prst="roundRect">
            <a:avLst>
              <a:gd fmla="val 70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191250" y="3043237"/>
            <a:ext cx="2600325" cy="1628775"/>
          </a:xfrm>
          <a:prstGeom prst="roundRect">
            <a:avLst>
              <a:gd fmla="val 70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982075" y="3043237"/>
            <a:ext cx="2600325" cy="1628775"/>
          </a:xfrm>
          <a:prstGeom prst="roundRect">
            <a:avLst>
              <a:gd fmla="val 70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2813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32813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2813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32813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09600" y="45720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PILAR UTAMA SISTEM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439400" y="4572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Fitur Kunci Versi 1.6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 Pilar Utama Inovasi ZEVA Logistik Material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47725" y="36242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Fast Onboarding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47725" y="3919537"/>
            <a:ext cx="2219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 ID otomatis buat akun baru &amp; buka panel input task tanpa persetujuan admin.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3638550" y="36242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 Location Scan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3638550" y="3919537"/>
            <a:ext cx="2219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Verifikasi wajib scan QR Code nama proses di stasiun tujuan untuk validasi penyerahan.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429375" y="36242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Poka-Yoke Fallback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429375" y="3919537"/>
            <a:ext cx="2219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Penanganan otomatis jika lupa tekan tombol berangkat agar data waktu tetap akurat.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220200" y="36242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Precision Spatiotemporal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220200" y="3919537"/>
            <a:ext cx="2219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Pencatatan waktu presisi T1 (Picked), T2 (Delivered), dan T3 (Return) per event.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609600" y="2976562"/>
            <a:ext cx="2600325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09600" y="472916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09600" y="2976562"/>
            <a:ext cx="2600325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09600" y="2976562"/>
            <a:ext cx="9525" cy="1762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200400" y="2976562"/>
            <a:ext cx="9525" cy="1762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3400425" y="3062287"/>
            <a:ext cx="2600325" cy="1590675"/>
          </a:xfrm>
          <a:prstGeom prst="roundRect">
            <a:avLst>
              <a:gd fmla="val 7185" name="adj"/>
            </a:avLst>
          </a:prstGeom>
          <a:solidFill>
            <a:srgbClr val="F8FAFC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400425" y="464343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3400425" y="3062287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400425" y="3062287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991225" y="3062287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191250" y="3062287"/>
            <a:ext cx="2600325" cy="1590675"/>
          </a:xfrm>
          <a:prstGeom prst="roundRect">
            <a:avLst>
              <a:gd fmla="val 7185" name="adj"/>
            </a:avLst>
          </a:prstGeom>
          <a:solidFill>
            <a:srgbClr val="F8FAFC"/>
          </a:solidFill>
          <a:ln cap="flat" cmpd="sng" w="381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191250" y="464343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191250" y="3062287"/>
            <a:ext cx="2600325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191250" y="3062287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782050" y="3062287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8982075" y="3062287"/>
            <a:ext cx="2600325" cy="1590675"/>
          </a:xfrm>
          <a:prstGeom prst="roundRect">
            <a:avLst>
              <a:gd fmla="val 7185" name="adj"/>
            </a:avLst>
          </a:prstGeom>
          <a:solidFill>
            <a:srgbClr val="F8FAFC"/>
          </a:solidFill>
          <a:ln cap="flat" cmpd="sng" w="381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982075" y="4643437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8982075" y="3062287"/>
            <a:ext cx="2600325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8982075" y="3062287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11572875" y="3062287"/>
            <a:ext cx="9525" cy="1590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09600" y="457200"/>
            <a:ext cx="2583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ARCHITECTURE &amp; ROLES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9848850" y="457200"/>
            <a:ext cx="2166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Role-Based Access Control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Pemisahan Hak Akses Sesuai Fungsi Kerja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838200" y="3205162"/>
            <a:ext cx="2238375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ADMIN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3629025" y="3290887"/>
            <a:ext cx="2238375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SUPERVISOR (SPV)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419850" y="3290887"/>
            <a:ext cx="2238375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MANAGER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210675" y="3290887"/>
            <a:ext cx="2238375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OPERATOR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47725" y="351948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Pengendali Sistem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847725" y="3814762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Kelola master data, generator/cetak QR Code, user management, dan audit log sistem.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3638550" y="360521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Monitoring Operasional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3638550" y="3900487"/>
            <a:ext cx="2219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tracking operator, deteksi keterlambatan, dan pemantauan timeline event per task.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29375" y="360521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Laporan Eksekutif &amp; KPI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429375" y="3900487"/>
            <a:ext cx="2219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KPI, tren efisiensi cycle time, serta evaluasi performa per area line.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9220200" y="360521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Task Lapangan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9220200" y="3900487"/>
            <a:ext cx="2219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 login scan ID, scan rak, scan material, scan line tujuan, dan selesaikan task.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>
            <a:off x="609600" y="2867025"/>
            <a:ext cx="5334000" cy="1943100"/>
          </a:xfrm>
          <a:prstGeom prst="roundRect">
            <a:avLst>
              <a:gd fmla="val 588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248400" y="2867025"/>
            <a:ext cx="5334000" cy="1943100"/>
          </a:xfrm>
          <a:prstGeom prst="roundRect">
            <a:avLst>
              <a:gd fmla="val 588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923925" y="4095750"/>
            <a:ext cx="4705350" cy="400050"/>
          </a:xfrm>
          <a:prstGeom prst="roundRect">
            <a:avLst>
              <a:gd fmla="val 19047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562725" y="4095750"/>
            <a:ext cx="4705350" cy="400050"/>
          </a:xfrm>
          <a:prstGeom prst="roundRect">
            <a:avLst>
              <a:gd fmla="val 190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923925" y="3181350"/>
            <a:ext cx="923925" cy="247650"/>
          </a:xfrm>
          <a:prstGeom prst="roundRect">
            <a:avLst>
              <a:gd fmla="val 15384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562725" y="3181350"/>
            <a:ext cx="942975" cy="247650"/>
          </a:xfrm>
          <a:prstGeom prst="roundRect">
            <a:avLst>
              <a:gd fmla="val 15384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42386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7025" y="42386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609600" y="457200"/>
            <a:ext cx="2524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OPERATOR WORKFLOW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10334625" y="457200"/>
            <a:ext cx="1559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Routing Login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 Login Pintar Berbasis Deteksi Akun Operator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923925" y="3581400"/>
            <a:ext cx="4800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Pendaftaran otomatis saat scan ID pertama kali, membuat task baru, dan langsung membuka form input tanpa hambatan approval.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1038225" y="42100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Buka Panel Input Task Secara Instan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562725" y="3581400"/>
            <a:ext cx="4800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Mengarahkan operator terdaftar ke dashboard riwayat untuk melanjutkan task aktif atau membuat task baru.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677025" y="42100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Opsi Lanjut Task / Tambah Task Baru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019175" y="3219450"/>
            <a:ext cx="828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BARU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1962150" y="3195637"/>
            <a:ext cx="27753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 to Input Task Panel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6657975" y="3219450"/>
            <a:ext cx="84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LAMA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7620000" y="3195637"/>
            <a:ext cx="252531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 History Task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609600" y="3176587"/>
            <a:ext cx="3505200" cy="1323975"/>
          </a:xfrm>
          <a:prstGeom prst="roundRect">
            <a:avLst>
              <a:gd fmla="val 86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4343400" y="3176587"/>
            <a:ext cx="3505200" cy="1323975"/>
          </a:xfrm>
          <a:prstGeom prst="roundRect">
            <a:avLst>
              <a:gd fmla="val 86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077200" y="3176587"/>
            <a:ext cx="3505200" cy="1323975"/>
          </a:xfrm>
          <a:prstGeom prst="roundRect">
            <a:avLst>
              <a:gd fmla="val 86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09600" y="457200"/>
            <a:ext cx="2583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05. USER INTERFACE GEMBA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0448925" y="457200"/>
            <a:ext cx="1419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Desain Panel Input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Antarmuka Panel Input Operator Ramah Touchscreen &amp; Poka-Yoke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47725" y="3414712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Step-by-Step Step Cards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847725" y="3748087"/>
            <a:ext cx="3124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Penginputan berurutan yang sangat jelas: Step 1 Scan Rak, Step 2 Scan Material, Step 3 Qty &amp; Line Tujuan.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4581525" y="3414712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Hands-Free Auto Advance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4581525" y="3748087"/>
            <a:ext cx="3124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Kursor berpindah otomatis saat barcode dibaca scanner. Operator tidak perlu menyentuh layar saat scan.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315325" y="3414712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Umpan Balik Visual &amp; Audio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8315325" y="3748087"/>
            <a:ext cx="3124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Indikator hijau + beep halus untuk sukses, serta warna merah + beep peringatan jika barcode salah atau non-aktif.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/>
          <p:nvPr/>
        </p:nvSpPr>
        <p:spPr>
          <a:xfrm>
            <a:off x="609600" y="2552700"/>
            <a:ext cx="5400675" cy="2571750"/>
          </a:xfrm>
          <a:prstGeom prst="roundRect">
            <a:avLst>
              <a:gd fmla="val 444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6315075" y="2786062"/>
            <a:ext cx="5267325" cy="2105025"/>
          </a:xfrm>
          <a:prstGeom prst="roundRect">
            <a:avLst>
              <a:gd fmla="val 54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914400" y="4248150"/>
            <a:ext cx="4791075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914400" y="424815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3495675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3952875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4410075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609600" y="457200"/>
            <a:ext cx="34885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COMPLETION SCAN VERIFICATION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0334625" y="457200"/>
            <a:ext cx="1559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Validasi Penyerahan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Verifikasi Wajib Scan QR Code di Lokasi Tujuan (T2)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914400" y="2857500"/>
            <a:ext cx="4886325" cy="196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MEKANISME VERIFIKASI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914400" y="3171825"/>
            <a:ext cx="62882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Fisik QR Code di Stasiun Workstation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914400" y="3552825"/>
            <a:ext cx="48863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 mengubah status material menjadi DELIVERED, operator wajib secara fisik hadir di line dan melakukan scan QR Code yang tertempel di lokasi tersebut.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028700" y="4362450"/>
            <a:ext cx="4657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Mencegah penyelesaian palsu dari jarak jauh &amp; memastikan material benar-benar sampai.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553200" y="3024187"/>
            <a:ext cx="5638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Manfaat Utama Verifikasi Tujuan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6762750" y="3395662"/>
            <a:ext cx="4676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Akurasi Stempel Waktu T2: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Mencatat jam dan detik kedatangan barang di line.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762750" y="3852862"/>
            <a:ext cx="4676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Wrong Delivery: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Alert kesalahan jika operator salah mengantar ke line lain.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762750" y="4310062"/>
            <a:ext cx="4676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Perhitungan Cycle Time: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Menghitung durasi perjalanan kirim dan durasi kembali.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/>
          <p:nvPr/>
        </p:nvSpPr>
        <p:spPr>
          <a:xfrm>
            <a:off x="609600" y="3138487"/>
            <a:ext cx="3505200" cy="1400175"/>
          </a:xfrm>
          <a:prstGeom prst="roundRect">
            <a:avLst>
              <a:gd fmla="val 8163" name="adj"/>
            </a:avLst>
          </a:prstGeom>
          <a:solidFill>
            <a:srgbClr val="FEF3C7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343400" y="3138487"/>
            <a:ext cx="3505200" cy="1400175"/>
          </a:xfrm>
          <a:prstGeom prst="roundRect">
            <a:avLst>
              <a:gd fmla="val 8163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8077200" y="3138487"/>
            <a:ext cx="3505200" cy="1400175"/>
          </a:xfrm>
          <a:prstGeom prst="roundRect">
            <a:avLst>
              <a:gd fmla="val 816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09600" y="457200"/>
            <a:ext cx="3167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07. ERROR PROOFING MECHANISM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839325" y="457200"/>
            <a:ext cx="21788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Poka-Yoke Auto-Departure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Antisipasi Operator Lupa Tekan Tombol Berangkat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885825" y="3414712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2400E"/>
                </a:solidFill>
                <a:latin typeface="Space Grotesk"/>
                <a:ea typeface="Space Grotesk"/>
                <a:cs typeface="Space Grotesk"/>
                <a:sym typeface="Space Grotesk"/>
              </a:rPr>
              <a:t>Potensi Masalah Lapangan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85825" y="3748087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35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Operator terburu-buru dan langsung berjalan mengantar barang tanpa menekan tombol "Konfirmasi Berangkat" (T1 kosong).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4619625" y="3414712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Solusi Logika Fallback v1.6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619625" y="3748087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 otomatis mengambil stempel waktu scan material terakhir sebagai nilai T1 dan menyimpannya secara transparan.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8353425" y="3414712"/>
            <a:ext cx="3838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Flag Penanda SPV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353425" y="3748087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Memberikan tag [AUTO_FALLBACK] di dashboard SPV untuk pemantauan kepatuhan tanpa menghentikan proses pengiriman.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609600" y="5876925"/>
            <a:ext cx="10972800" cy="523875"/>
          </a:xfrm>
          <a:prstGeom prst="roundRect">
            <a:avLst>
              <a:gd fmla="val 1454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09600" y="2886075"/>
            <a:ext cx="3321099" cy="1381125"/>
          </a:xfrm>
          <a:prstGeom prst="roundRect">
            <a:avLst>
              <a:gd fmla="val 82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435524" y="2886075"/>
            <a:ext cx="3321099" cy="1381125"/>
          </a:xfrm>
          <a:prstGeom prst="roundRect">
            <a:avLst>
              <a:gd fmla="val 82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8261449" y="2962275"/>
            <a:ext cx="3321099" cy="1228725"/>
          </a:xfrm>
          <a:prstGeom prst="roundRect">
            <a:avLst>
              <a:gd fmla="val 93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1199" y="349567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7124" y="3495675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609600" y="457200"/>
            <a:ext cx="28455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08. CYCLE TIME FORMULATION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0201275" y="457200"/>
            <a:ext cx="1726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Metrik Stempel Waktu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Kalkulasi Tiga Titik Stempel Waktu (Spatiotemporal Log)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838200" y="3114675"/>
            <a:ext cx="2959149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T1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4664124" y="3114675"/>
            <a:ext cx="2959149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T2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490049" y="3190875"/>
            <a:ext cx="29591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T3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614487" y="6038850"/>
            <a:ext cx="2405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Delivery Lead Time: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T2 - T1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5224462" y="6038850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Return Time: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T3 - T2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358187" y="6038850"/>
            <a:ext cx="27741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Round-Trip Cycle: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T3 - T1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847725" y="3486150"/>
            <a:ext cx="37338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Picked / Departure Time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847725" y="3724275"/>
            <a:ext cx="2940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Selesai scan rak &amp; material di gudang (Awal Berangkat).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4673649" y="3486150"/>
            <a:ext cx="37338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Delivered Time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4673649" y="3724275"/>
            <a:ext cx="2940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 QR Code lokasi di line tujuan (Tiba &amp; Diserahkan).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499574" y="3562350"/>
            <a:ext cx="3692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 to Rack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8499574" y="3800475"/>
            <a:ext cx="3556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 rak berikutnya di gudang (Awal Siklus Baru).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/>
          <p:nvPr/>
        </p:nvSpPr>
        <p:spPr>
          <a:xfrm>
            <a:off x="609600" y="3209925"/>
            <a:ext cx="3505200" cy="1257300"/>
          </a:xfrm>
          <a:prstGeom prst="roundRect">
            <a:avLst>
              <a:gd fmla="val 909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4343400" y="3209925"/>
            <a:ext cx="3505200" cy="1257300"/>
          </a:xfrm>
          <a:prstGeom prst="roundRect">
            <a:avLst>
              <a:gd fmla="val 909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8077200" y="3209925"/>
            <a:ext cx="3505200" cy="1257300"/>
          </a:xfrm>
          <a:prstGeom prst="roundRect">
            <a:avLst>
              <a:gd fmla="val 909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847725" y="4038600"/>
            <a:ext cx="1504950" cy="219075"/>
          </a:xfrm>
          <a:prstGeom prst="roundRect">
            <a:avLst>
              <a:gd fmla="val 1739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581525" y="4038600"/>
            <a:ext cx="1924050" cy="219075"/>
          </a:xfrm>
          <a:prstGeom prst="roundRect">
            <a:avLst>
              <a:gd fmla="val 1739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8315325" y="4038600"/>
            <a:ext cx="1457325" cy="219075"/>
          </a:xfrm>
          <a:prstGeom prst="roundRect">
            <a:avLst>
              <a:gd fmla="val 1739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609600" y="457200"/>
            <a:ext cx="27265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09. REAL-WORLD SCENARIOS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9963150" y="457200"/>
            <a:ext cx="2024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Dukungan Skenario Suplai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Fleksibilitas Pengiriman Material Sesuai Realita Gemba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847725" y="3448050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Single-Destination Bulk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47725" y="3743325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Banyak material diantar ke 1 line dalam 1 task.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23925" y="4076700"/>
            <a:ext cx="1447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cukup 1x Scan QR Tujuan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4581525" y="3448050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Multi-Drop Sequential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581525" y="3743325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task berisi material untuk Line A, Line B, Line C.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4657725" y="4076700"/>
            <a:ext cx="1866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Mencatat Transit Time Antar-Line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8315325" y="3448050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Multi-Rack Picking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8315325" y="3743325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Pengambilan dari berbagai rak dalam 1 siklus troli.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8391525" y="4076700"/>
            <a:ext cx="14001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Tracking Lokasi Rak Asal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/>
          <p:nvPr/>
        </p:nvSpPr>
        <p:spPr>
          <a:xfrm>
            <a:off x="609600" y="3109912"/>
            <a:ext cx="3505200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343400" y="3109912"/>
            <a:ext cx="3505200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8077200" y="3109912"/>
            <a:ext cx="3505200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3480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34803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3480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609600" y="457200"/>
            <a:ext cx="2976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10. MANAGEMENT DASHBOARDS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10144125" y="457200"/>
            <a:ext cx="17978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 &amp; Reporting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Transparansi Log &amp; Monitoring Terintegrasi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847725" y="3690937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SPV Live Timeline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847725" y="3986212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Pemantauan posisi operator in-transit, warning delay, dan riwayat kronologis per detik.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4581525" y="3690937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Manager Executive KPI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4581525" y="3986212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Ringkasan grafik tren cycle time, beban kerja per area line, dan efisiensi pengiriman.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8315325" y="3690937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 Audit Trail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8315325" y="3986212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Pengelolaan master data, generator/cetak QR Code, serta ekspor raw data transaksi.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"/>
          <p:cNvSpPr/>
          <p:nvPr/>
        </p:nvSpPr>
        <p:spPr>
          <a:xfrm>
            <a:off x="609600" y="58483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609600" y="3305175"/>
            <a:ext cx="3454449" cy="1352550"/>
          </a:xfrm>
          <a:prstGeom prst="roundRect">
            <a:avLst>
              <a:gd fmla="val 845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4368849" y="3305175"/>
            <a:ext cx="3454449" cy="1352550"/>
          </a:xfrm>
          <a:prstGeom prst="roundRect">
            <a:avLst>
              <a:gd fmla="val 845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8128099" y="3305175"/>
            <a:ext cx="3454449" cy="1352550"/>
          </a:xfrm>
          <a:prstGeom prst="roundRect">
            <a:avLst>
              <a:gd fmla="val 845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609600" y="58483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 txBox="1"/>
          <p:nvPr/>
        </p:nvSpPr>
        <p:spPr>
          <a:xfrm>
            <a:off x="609600" y="609600"/>
            <a:ext cx="11068050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11. CLOSING &amp; NEXT STEPS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Siap Mentransformasi Operasional Logistik Gemba Anda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609600" y="1600200"/>
            <a:ext cx="7715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Implementasi ZEVA Logistik Material v1.6 akan membawa efisiensi nyata: pangkas waktu penyiapan suplai, tingkatkan akurasi pengantaran, dan hadirkan data terukur.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838200" y="3533775"/>
            <a:ext cx="309249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TAHAP 1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4597449" y="3533775"/>
            <a:ext cx="309249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TAHAP 2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8356699" y="3533775"/>
            <a:ext cx="309249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TAHAP 3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609600" y="6048375"/>
            <a:ext cx="2928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Terima Kasih — Ada Pertanyaan?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8572500" y="6062662"/>
            <a:ext cx="3619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ZEVA Logistik Material v1.6 Proposal Presentation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847725" y="3781425"/>
            <a:ext cx="39088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Persiapan Master Data &amp; QR Code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847725" y="4076700"/>
            <a:ext cx="30734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Pemasangan QR Code di lokasi rak dan stasiun line tujuan.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4606974" y="3781425"/>
            <a:ext cx="39088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Uji Coba &amp; Training Operator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4606974" y="4076700"/>
            <a:ext cx="30734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Simulasi penginputan hands-free dan penyerahan material.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8366224" y="3781425"/>
            <a:ext cx="3825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Full Go-Live &amp; Evaluation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8366224" y="4076700"/>
            <a:ext cx="30734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Penerapan penuh dan pemantauan KPI lead time mingguan.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