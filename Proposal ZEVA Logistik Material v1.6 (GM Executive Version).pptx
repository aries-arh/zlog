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embeddedFontLst>
    <p:embeddedFont>
      <p:font typeface="Plus Jakarta Sans"/>
      <p:regular r:id="rId13"/>
      <p:bold r:id="rId14"/>
      <p:italic r:id="rId15"/>
      <p:boldItalic r:id="rId16"/>
    </p:embeddedFont>
    <p:embeddedFont>
      <p:font typeface="Space Grotesk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italic.fntdata"/><Relationship Id="rId14" Type="http://schemas.openxmlformats.org/officeDocument/2006/relationships/font" Target="fonts/PlusJakartaSans-bold.fntdata"/><Relationship Id="rId17" Type="http://schemas.openxmlformats.org/officeDocument/2006/relationships/font" Target="fonts/SpaceGrotesk-regular.fntdata"/><Relationship Id="rId16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SpaceGrotesk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4.png"/><Relationship Id="rId6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09600" y="4218682"/>
            <a:ext cx="10972800" cy="1123950"/>
          </a:xfrm>
          <a:prstGeom prst="roundRect">
            <a:avLst>
              <a:gd fmla="val 10169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09600" y="6009977"/>
            <a:ext cx="109728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9253537" y="533400"/>
            <a:ext cx="2328862" cy="2667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809625" y="4418707"/>
            <a:ext cx="2540793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3540918" y="4418707"/>
            <a:ext cx="2540793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272212" y="4418707"/>
            <a:ext cx="2540793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609600" y="6009977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3340893" y="4418707"/>
            <a:ext cx="9525" cy="7239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6072187" y="4418707"/>
            <a:ext cx="9525" cy="7239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8803481" y="4418707"/>
            <a:ext cx="9525" cy="7239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4" name="Google Shape;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533400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 txBox="1"/>
          <p:nvPr/>
        </p:nvSpPr>
        <p:spPr>
          <a:xfrm>
            <a:off x="9405937" y="590550"/>
            <a:ext cx="211931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PROPOSAL EXECUTIVE FOR GM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609600" y="1562695"/>
            <a:ext cx="107156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EXECUTIVE BRIEF &amp; BUSINESS IMPACT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609600" y="1838920"/>
            <a:ext cx="9101137" cy="1007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Eliminasi Delay Suplai Material &amp; Optimasi Lead Time Pengiriman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609600" y="3036986"/>
            <a:ext cx="86677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 pelacakan real-time berbasis QR Code untuk mengukur siklus pengiriman operator, mencegah salah kirim, dan meningkatkan efisiensi suplai lini produksi.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609600" y="6171902"/>
            <a:ext cx="420290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Disiapkan Untuk: </a:t>
            </a:r>
            <a:r>
              <a:rPr b="1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General Manager &amp; Management Board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10734675" y="6171902"/>
            <a:ext cx="11334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Oktober 2026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028700" y="533400"/>
            <a:ext cx="3988593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ZEVA LOGISTIK MATERIAL v1.6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809625" y="4418707"/>
            <a:ext cx="297358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Target Lead Time Suplai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809625" y="4609207"/>
            <a:ext cx="2973585" cy="3524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12m ➔ 6m</a:t>
            </a:r>
            <a:endParaRPr/>
          </a:p>
        </p:txBody>
      </p:sp>
      <p:sp>
        <p:nvSpPr>
          <p:cNvPr id="104" name="Google Shape;104;p13"/>
          <p:cNvSpPr txBox="1"/>
          <p:nvPr/>
        </p:nvSpPr>
        <p:spPr>
          <a:xfrm>
            <a:off x="809625" y="4999732"/>
            <a:ext cx="297358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2C55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-50% Reduction</a:t>
            </a:r>
            <a:endParaRPr/>
          </a:p>
        </p:txBody>
      </p:sp>
      <p:sp>
        <p:nvSpPr>
          <p:cNvPr id="105" name="Google Shape;105;p13"/>
          <p:cNvSpPr txBox="1"/>
          <p:nvPr/>
        </p:nvSpPr>
        <p:spPr>
          <a:xfrm>
            <a:off x="3540918" y="4418707"/>
            <a:ext cx="297358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Line Efficiency Impact</a:t>
            </a:r>
            <a:endParaRPr/>
          </a:p>
        </p:txBody>
      </p:sp>
      <p:sp>
        <p:nvSpPr>
          <p:cNvPr id="106" name="Google Shape;106;p13"/>
          <p:cNvSpPr txBox="1"/>
          <p:nvPr/>
        </p:nvSpPr>
        <p:spPr>
          <a:xfrm>
            <a:off x="3540918" y="4609207"/>
            <a:ext cx="2973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2C55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+8.5%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3540918" y="4980682"/>
            <a:ext cx="297358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Mencegah Line Stop</a:t>
            </a:r>
            <a:endParaRPr/>
          </a:p>
        </p:txBody>
      </p:sp>
      <p:sp>
        <p:nvSpPr>
          <p:cNvPr id="108" name="Google Shape;108;p13"/>
          <p:cNvSpPr txBox="1"/>
          <p:nvPr/>
        </p:nvSpPr>
        <p:spPr>
          <a:xfrm>
            <a:off x="6272212" y="4418707"/>
            <a:ext cx="297358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Akurasi Penyerahan Line</a:t>
            </a:r>
            <a:endParaRPr/>
          </a:p>
        </p:txBody>
      </p:sp>
      <p:sp>
        <p:nvSpPr>
          <p:cNvPr id="109" name="Google Shape;109;p13"/>
          <p:cNvSpPr txBox="1"/>
          <p:nvPr/>
        </p:nvSpPr>
        <p:spPr>
          <a:xfrm>
            <a:off x="6272212" y="4609207"/>
            <a:ext cx="2973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100%</a:t>
            </a:r>
            <a:endParaRPr/>
          </a:p>
        </p:txBody>
      </p:sp>
      <p:sp>
        <p:nvSpPr>
          <p:cNvPr id="110" name="Google Shape;110;p13"/>
          <p:cNvSpPr txBox="1"/>
          <p:nvPr/>
        </p:nvSpPr>
        <p:spPr>
          <a:xfrm>
            <a:off x="6272212" y="4980682"/>
            <a:ext cx="297358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Verifikasi QR Tujuan</a:t>
            </a:r>
            <a:endParaRPr/>
          </a:p>
        </p:txBody>
      </p:sp>
      <p:sp>
        <p:nvSpPr>
          <p:cNvPr id="111" name="Google Shape;111;p13"/>
          <p:cNvSpPr txBox="1"/>
          <p:nvPr/>
        </p:nvSpPr>
        <p:spPr>
          <a:xfrm>
            <a:off x="9003506" y="4418707"/>
            <a:ext cx="297358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Rencana Rollout</a:t>
            </a:r>
            <a:endParaRPr/>
          </a:p>
        </p:txBody>
      </p:sp>
      <p:sp>
        <p:nvSpPr>
          <p:cNvPr id="112" name="Google Shape;112;p13"/>
          <p:cNvSpPr txBox="1"/>
          <p:nvPr/>
        </p:nvSpPr>
        <p:spPr>
          <a:xfrm>
            <a:off x="9003506" y="4609207"/>
            <a:ext cx="2973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59E0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 Minggu</a:t>
            </a:r>
            <a:endParaRPr/>
          </a:p>
        </p:txBody>
      </p:sp>
      <p:sp>
        <p:nvSpPr>
          <p:cNvPr id="113" name="Google Shape;113;p13"/>
          <p:cNvSpPr txBox="1"/>
          <p:nvPr/>
        </p:nvSpPr>
        <p:spPr>
          <a:xfrm>
            <a:off x="9003506" y="4980682"/>
            <a:ext cx="297358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 Phase Deployment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609600" y="5924550"/>
            <a:ext cx="10972800" cy="476250"/>
          </a:xfrm>
          <a:prstGeom prst="roundRect">
            <a:avLst>
              <a:gd fmla="val 16000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09600" y="2719387"/>
            <a:ext cx="3530649" cy="1676400"/>
          </a:xfrm>
          <a:prstGeom prst="roundRect">
            <a:avLst>
              <a:gd fmla="val 6818" name="adj"/>
            </a:avLst>
          </a:prstGeom>
          <a:solidFill>
            <a:srgbClr val="FFF5F5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/>
          <p:nvPr/>
        </p:nvSpPr>
        <p:spPr>
          <a:xfrm>
            <a:off x="4330749" y="2719387"/>
            <a:ext cx="3530649" cy="1676400"/>
          </a:xfrm>
          <a:prstGeom prst="roundRect">
            <a:avLst>
              <a:gd fmla="val 6818" name="adj"/>
            </a:avLst>
          </a:prstGeom>
          <a:solidFill>
            <a:srgbClr val="FFF5F5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8051899" y="2719387"/>
            <a:ext cx="3530649" cy="1676400"/>
          </a:xfrm>
          <a:prstGeom prst="roundRect">
            <a:avLst>
              <a:gd fmla="val 6818" name="adj"/>
            </a:avLst>
          </a:prstGeom>
          <a:solidFill>
            <a:srgbClr val="FFF5F5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847725" y="3900487"/>
            <a:ext cx="3054399" cy="257175"/>
          </a:xfrm>
          <a:prstGeom prst="roundRect">
            <a:avLst>
              <a:gd fmla="val 22222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4568874" y="3900487"/>
            <a:ext cx="3054399" cy="257175"/>
          </a:xfrm>
          <a:prstGeom prst="roundRect">
            <a:avLst>
              <a:gd fmla="val 22222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8290024" y="3900487"/>
            <a:ext cx="3054399" cy="257175"/>
          </a:xfrm>
          <a:prstGeom prst="roundRect">
            <a:avLst>
              <a:gd fmla="val 22222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5" name="Google Shape;12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10552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68874" y="2995612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90024" y="2995612"/>
            <a:ext cx="1428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4"/>
          <p:cNvSpPr txBox="1"/>
          <p:nvPr/>
        </p:nvSpPr>
        <p:spPr>
          <a:xfrm>
            <a:off x="609600" y="457200"/>
            <a:ext cx="21669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01. PROBLEM STATEMENT</a:t>
            </a:r>
            <a:endParaRPr/>
          </a:p>
        </p:txBody>
      </p:sp>
      <p:sp>
        <p:nvSpPr>
          <p:cNvPr id="129" name="Google Shape;129;p14"/>
          <p:cNvSpPr txBox="1"/>
          <p:nvPr/>
        </p:nvSpPr>
        <p:spPr>
          <a:xfrm>
            <a:off x="9934575" y="457200"/>
            <a:ext cx="205978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Tantangan Lapangan Gemba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609600" y="666750"/>
            <a:ext cx="115824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Mengapa Sistem Suplai Material Saat Ini Membutuhkan Perubahan?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847725" y="2957512"/>
            <a:ext cx="381799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Unmonitored Lead Time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847725" y="3271837"/>
            <a:ext cx="3149649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F1D1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Tidak ada data pasti berapa lama waktu yang dibutuhkan operator untuk mengambil barang di rak dan mengantarnya ke line.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942975" y="3957637"/>
            <a:ext cx="2959149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Dampak: Pemicu terselubung Line Stop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4568874" y="2957512"/>
            <a:ext cx="381799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952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Risiko Misdelivery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4568874" y="3271837"/>
            <a:ext cx="3149649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F1D1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Penyerahan barang dilakukan secara verbal tanpa bukti scan di lokasi tujuan, berisiko material tertukar antar-line.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4664124" y="3957637"/>
            <a:ext cx="2959149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Dampak: Defect komponen &amp; Rework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8290024" y="2957512"/>
            <a:ext cx="381799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Ketiadaan Audit Trail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8290024" y="3271837"/>
            <a:ext cx="3149649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F1D1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SPV dan Manager tidak memiliki laporan riwayat waktu per detik jika terjadi keterlambatan suplai di stasiun kerja.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8385274" y="3957637"/>
            <a:ext cx="2959149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Dampak: Sulit mengevaluasi beban kerja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5"/>
          <p:cNvSpPr/>
          <p:nvPr/>
        </p:nvSpPr>
        <p:spPr>
          <a:xfrm>
            <a:off x="609600" y="2919412"/>
            <a:ext cx="2600325" cy="1752600"/>
          </a:xfrm>
          <a:prstGeom prst="roundRect">
            <a:avLst>
              <a:gd fmla="val 652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3400425" y="2924175"/>
            <a:ext cx="2600325" cy="1743075"/>
          </a:xfrm>
          <a:prstGeom prst="roundRect">
            <a:avLst>
              <a:gd fmla="val 6557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6191250" y="2924175"/>
            <a:ext cx="2600325" cy="1743075"/>
          </a:xfrm>
          <a:prstGeom prst="roundRect">
            <a:avLst>
              <a:gd fmla="val 6557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/>
          <p:nvPr/>
        </p:nvSpPr>
        <p:spPr>
          <a:xfrm>
            <a:off x="8982075" y="3000375"/>
            <a:ext cx="2600325" cy="1590675"/>
          </a:xfrm>
          <a:prstGeom prst="roundRect">
            <a:avLst>
              <a:gd fmla="val 7185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/>
          <p:nvPr/>
        </p:nvSpPr>
        <p:spPr>
          <a:xfrm>
            <a:off x="609600" y="4662487"/>
            <a:ext cx="2600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/>
          <p:nvPr/>
        </p:nvSpPr>
        <p:spPr>
          <a:xfrm>
            <a:off x="609600" y="2919412"/>
            <a:ext cx="2600325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609600" y="2919412"/>
            <a:ext cx="9525" cy="1752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3200400" y="2919412"/>
            <a:ext cx="9525" cy="1752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/>
          <p:nvPr/>
        </p:nvSpPr>
        <p:spPr>
          <a:xfrm>
            <a:off x="3400425" y="4657725"/>
            <a:ext cx="2600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/>
          <p:nvPr/>
        </p:nvSpPr>
        <p:spPr>
          <a:xfrm>
            <a:off x="3400425" y="2924175"/>
            <a:ext cx="2600325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5"/>
          <p:cNvSpPr/>
          <p:nvPr/>
        </p:nvSpPr>
        <p:spPr>
          <a:xfrm>
            <a:off x="3400425" y="2924175"/>
            <a:ext cx="9525" cy="17430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5991225" y="2924175"/>
            <a:ext cx="9525" cy="17430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6191250" y="4657725"/>
            <a:ext cx="2600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/>
          <p:nvPr/>
        </p:nvSpPr>
        <p:spPr>
          <a:xfrm>
            <a:off x="6191250" y="2924175"/>
            <a:ext cx="260032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5"/>
          <p:cNvSpPr/>
          <p:nvPr/>
        </p:nvSpPr>
        <p:spPr>
          <a:xfrm>
            <a:off x="6191250" y="2924175"/>
            <a:ext cx="9525" cy="17430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5"/>
          <p:cNvSpPr/>
          <p:nvPr/>
        </p:nvSpPr>
        <p:spPr>
          <a:xfrm>
            <a:off x="8782050" y="2924175"/>
            <a:ext cx="9525" cy="17430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8982075" y="4581525"/>
            <a:ext cx="2600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8982075" y="3000375"/>
            <a:ext cx="2600325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8982075" y="3000375"/>
            <a:ext cx="9525" cy="15906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11572875" y="3000375"/>
            <a:ext cx="9525" cy="15906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4" name="Google Shape;16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31861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38550" y="319087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29375" y="31908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20200" y="32670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5"/>
          <p:cNvSpPr txBox="1"/>
          <p:nvPr/>
        </p:nvSpPr>
        <p:spPr>
          <a:xfrm>
            <a:off x="609600" y="457200"/>
            <a:ext cx="194071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02. SOLUSI STRATEGIS</a:t>
            </a:r>
            <a:endParaRPr/>
          </a:p>
        </p:txBody>
      </p:sp>
      <p:sp>
        <p:nvSpPr>
          <p:cNvPr id="169" name="Google Shape;169;p15"/>
          <p:cNvSpPr txBox="1"/>
          <p:nvPr/>
        </p:nvSpPr>
        <p:spPr>
          <a:xfrm>
            <a:off x="10182225" y="457200"/>
            <a:ext cx="175021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Inovasi Sistem ZEVA v1.6</a:t>
            </a:r>
            <a:endParaRPr/>
          </a:p>
        </p:txBody>
      </p:sp>
      <p:sp>
        <p:nvSpPr>
          <p:cNvPr id="170" name="Google Shape;170;p15"/>
          <p:cNvSpPr txBox="1"/>
          <p:nvPr/>
        </p:nvSpPr>
        <p:spPr>
          <a:xfrm>
            <a:off x="609600" y="666750"/>
            <a:ext cx="115824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4 Pilar Solusi ZEVA Logistik Material v1.6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847725" y="3529012"/>
            <a:ext cx="278784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1. Fast Onboarding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847725" y="3814762"/>
            <a:ext cx="22193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Operator baru scan ID ➔ Langsung masuk ke Panel Input Task tanpa persetujuan Admin (Zero Waiting Time).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3638550" y="3533775"/>
            <a:ext cx="278784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2. Scan Lokasi Tujuan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3638550" y="3819525"/>
            <a:ext cx="22193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Status DELIVERED wajib divalidasi dengan scan QR Code fisik di line tujuan untuk jaminan 100% akurasi lokasi.</a:t>
            </a:r>
            <a:endParaRPr/>
          </a:p>
        </p:txBody>
      </p:sp>
      <p:sp>
        <p:nvSpPr>
          <p:cNvPr id="175" name="Google Shape;175;p15"/>
          <p:cNvSpPr txBox="1"/>
          <p:nvPr/>
        </p:nvSpPr>
        <p:spPr>
          <a:xfrm>
            <a:off x="6429375" y="3533775"/>
            <a:ext cx="278784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3. Poka-Yoke Fallback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6429375" y="3819525"/>
            <a:ext cx="22193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Jika operator lupa tekan "Berangkat", sistem otomatis mengambil timestamp scan material terakhir sebagai T1.</a:t>
            </a:r>
            <a:endParaRPr/>
          </a:p>
        </p:txBody>
      </p:sp>
      <p:sp>
        <p:nvSpPr>
          <p:cNvPr id="177" name="Google Shape;177;p15"/>
          <p:cNvSpPr txBox="1"/>
          <p:nvPr/>
        </p:nvSpPr>
        <p:spPr>
          <a:xfrm>
            <a:off x="9220200" y="3609975"/>
            <a:ext cx="278784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4. Spatiotemporal Metrics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9220200" y="3895725"/>
            <a:ext cx="22193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Pencatatan presisi T1 (Picked), T2 (Delivered), dan T3 (Return) untuk analisis Cycle Time &amp; Lead Time.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6"/>
          <p:cNvSpPr/>
          <p:nvPr/>
        </p:nvSpPr>
        <p:spPr>
          <a:xfrm>
            <a:off x="609600" y="5714702"/>
            <a:ext cx="10972800" cy="685800"/>
          </a:xfrm>
          <a:prstGeom prst="roundRect">
            <a:avLst>
              <a:gd fmla="val 11111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609600" y="3393876"/>
            <a:ext cx="3340149" cy="1104900"/>
          </a:xfrm>
          <a:prstGeom prst="roundRect">
            <a:avLst>
              <a:gd fmla="val 8620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4425999" y="3393876"/>
            <a:ext cx="3340149" cy="1104900"/>
          </a:xfrm>
          <a:prstGeom prst="roundRect">
            <a:avLst>
              <a:gd fmla="val 8620" name="adj"/>
            </a:avLst>
          </a:prstGeom>
          <a:solidFill>
            <a:srgbClr val="F0FDF4"/>
          </a:solidFill>
          <a:ln cap="flat" cmpd="sng" w="9525">
            <a:solidFill>
              <a:srgbClr val="86EFA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/>
          <p:nvPr/>
        </p:nvSpPr>
        <p:spPr>
          <a:xfrm>
            <a:off x="8242399" y="3393876"/>
            <a:ext cx="3340149" cy="1104900"/>
          </a:xfrm>
          <a:prstGeom prst="roundRect">
            <a:avLst>
              <a:gd fmla="val 8620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/>
          <p:nvPr/>
        </p:nvSpPr>
        <p:spPr>
          <a:xfrm>
            <a:off x="3924300" y="5943302"/>
            <a:ext cx="9525" cy="228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/>
          <p:nvPr/>
        </p:nvSpPr>
        <p:spPr>
          <a:xfrm>
            <a:off x="7753350" y="5943302"/>
            <a:ext cx="9525" cy="228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9" name="Google Shape;18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02149" y="3865364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18549" y="3865364"/>
            <a:ext cx="17145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6"/>
          <p:cNvSpPr txBox="1"/>
          <p:nvPr/>
        </p:nvSpPr>
        <p:spPr>
          <a:xfrm>
            <a:off x="609600" y="457200"/>
            <a:ext cx="227409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03. METRIK SIKLUS WAKTU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9563100" y="457200"/>
            <a:ext cx="25241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Pelacakan Tiga Titik Stempel Waktu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09600" y="1768375"/>
            <a:ext cx="115824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Formulasi Pelacakan Waktu Aktual Per Operator (T1, T2, T3)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382581" y="3584376"/>
            <a:ext cx="3794187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T1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4198980" y="3584376"/>
            <a:ext cx="3794187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A34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T2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8015380" y="3584376"/>
            <a:ext cx="3794187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T3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350234" y="3936801"/>
            <a:ext cx="385888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Picked / Departure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442112" y="4155876"/>
            <a:ext cx="3675124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Scan Rak &amp; Material di Gudang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4166634" y="3936801"/>
            <a:ext cx="385888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Delivered at Line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4258512" y="4155876"/>
            <a:ext cx="3675124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Scan QR Code di Lokasi Tujuan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7983033" y="3936801"/>
            <a:ext cx="385888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 to Rack</a:t>
            </a:r>
            <a:endParaRPr/>
          </a:p>
        </p:txBody>
      </p:sp>
      <p:sp>
        <p:nvSpPr>
          <p:cNvPr id="202" name="Google Shape;202;p16"/>
          <p:cNvSpPr txBox="1"/>
          <p:nvPr/>
        </p:nvSpPr>
        <p:spPr>
          <a:xfrm>
            <a:off x="8074911" y="4155876"/>
            <a:ext cx="3675124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Scan Rak Siklus Baru di Gudang</a:t>
            </a:r>
            <a:endParaRPr/>
          </a:p>
        </p:txBody>
      </p:sp>
      <p:sp>
        <p:nvSpPr>
          <p:cNvPr id="203" name="Google Shape;203;p16"/>
          <p:cNvSpPr txBox="1"/>
          <p:nvPr/>
        </p:nvSpPr>
        <p:spPr>
          <a:xfrm>
            <a:off x="1343025" y="5867102"/>
            <a:ext cx="12763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Delivery Lead Time</a:t>
            </a:r>
            <a:endParaRPr/>
          </a:p>
        </p:txBody>
      </p:sp>
      <p:sp>
        <p:nvSpPr>
          <p:cNvPr id="204" name="Google Shape;204;p16"/>
          <p:cNvSpPr txBox="1"/>
          <p:nvPr/>
        </p:nvSpPr>
        <p:spPr>
          <a:xfrm>
            <a:off x="1343025" y="6029027"/>
            <a:ext cx="12763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T2 - T1</a:t>
            </a:r>
            <a:endParaRPr/>
          </a:p>
        </p:txBody>
      </p:sp>
      <p:sp>
        <p:nvSpPr>
          <p:cNvPr id="205" name="Google Shape;205;p16"/>
          <p:cNvSpPr txBox="1"/>
          <p:nvPr/>
        </p:nvSpPr>
        <p:spPr>
          <a:xfrm>
            <a:off x="5238750" y="5867102"/>
            <a:ext cx="12096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Return Lead Time</a:t>
            </a:r>
            <a:endParaRPr/>
          </a:p>
        </p:txBody>
      </p:sp>
      <p:sp>
        <p:nvSpPr>
          <p:cNvPr id="206" name="Google Shape;206;p16"/>
          <p:cNvSpPr txBox="1"/>
          <p:nvPr/>
        </p:nvSpPr>
        <p:spPr>
          <a:xfrm>
            <a:off x="5238750" y="6029027"/>
            <a:ext cx="12096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T3 - T2</a:t>
            </a:r>
            <a:endParaRPr/>
          </a:p>
        </p:txBody>
      </p:sp>
      <p:sp>
        <p:nvSpPr>
          <p:cNvPr id="207" name="Google Shape;207;p16"/>
          <p:cNvSpPr txBox="1"/>
          <p:nvPr/>
        </p:nvSpPr>
        <p:spPr>
          <a:xfrm>
            <a:off x="9023746" y="5867102"/>
            <a:ext cx="186928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Total Round-Trip Cycle Time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9023746" y="6029027"/>
            <a:ext cx="186928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6A34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T3 - T1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7"/>
          <p:cNvSpPr/>
          <p:nvPr/>
        </p:nvSpPr>
        <p:spPr>
          <a:xfrm>
            <a:off x="609600" y="2933700"/>
            <a:ext cx="3315890" cy="1724025"/>
          </a:xfrm>
          <a:prstGeom prst="roundRect">
            <a:avLst>
              <a:gd fmla="val 6629" name="adj"/>
            </a:avLst>
          </a:prstGeom>
          <a:solidFill>
            <a:srgbClr val="FFFBE8"/>
          </a:solidFill>
          <a:ln cap="flat" cmpd="sng" w="9525">
            <a:solidFill>
              <a:srgbClr val="FEF0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7"/>
          <p:cNvSpPr/>
          <p:nvPr/>
        </p:nvSpPr>
        <p:spPr>
          <a:xfrm>
            <a:off x="4154090" y="2838450"/>
            <a:ext cx="3883818" cy="1914525"/>
          </a:xfrm>
          <a:prstGeom prst="roundRect">
            <a:avLst>
              <a:gd fmla="val 5970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/>
          <p:nvPr/>
        </p:nvSpPr>
        <p:spPr>
          <a:xfrm>
            <a:off x="8266509" y="3043237"/>
            <a:ext cx="3315890" cy="1504950"/>
          </a:xfrm>
          <a:prstGeom prst="roundRect">
            <a:avLst>
              <a:gd fmla="val 7594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7"/>
          <p:cNvSpPr/>
          <p:nvPr/>
        </p:nvSpPr>
        <p:spPr>
          <a:xfrm>
            <a:off x="4392215" y="4219575"/>
            <a:ext cx="3407568" cy="295275"/>
          </a:xfrm>
          <a:prstGeom prst="roundRect">
            <a:avLst>
              <a:gd fmla="val 19354" name="adj"/>
            </a:avLst>
          </a:prstGeom>
          <a:solidFill>
            <a:srgbClr val="DCFC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7" name="Google Shape;21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06515" y="431482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7"/>
          <p:cNvSpPr txBox="1"/>
          <p:nvPr/>
        </p:nvSpPr>
        <p:spPr>
          <a:xfrm>
            <a:off x="609600" y="457200"/>
            <a:ext cx="17859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04. MITIGASI RISIKO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9477375" y="457200"/>
            <a:ext cx="263128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Poka-Yoke Auto-Departure Fallback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609600" y="666750"/>
            <a:ext cx="115824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Bagaimana Jika Operator Lupa Menekan Tombol Berangkat?</a:t>
            </a:r>
            <a:endParaRPr/>
          </a:p>
        </p:txBody>
      </p:sp>
      <p:sp>
        <p:nvSpPr>
          <p:cNvPr id="221" name="Google Shape;221;p17"/>
          <p:cNvSpPr txBox="1"/>
          <p:nvPr/>
        </p:nvSpPr>
        <p:spPr>
          <a:xfrm>
            <a:off x="838200" y="3162300"/>
            <a:ext cx="2953940" cy="1266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A1620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MASALAH LAPANGAN</a:t>
            </a:r>
            <a:endParaRPr/>
          </a:p>
        </p:txBody>
      </p:sp>
      <p:sp>
        <p:nvSpPr>
          <p:cNvPr id="222" name="Google Shape;222;p17"/>
          <p:cNvSpPr txBox="1"/>
          <p:nvPr/>
        </p:nvSpPr>
        <p:spPr>
          <a:xfrm>
            <a:off x="4382690" y="3067050"/>
            <a:ext cx="3521868" cy="1457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5803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SOLUSI POKA-YOKE v1.6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8495109" y="3271837"/>
            <a:ext cx="295394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MONITORING SPV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847725" y="3448050"/>
            <a:ext cx="3081635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854D0E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Operator Langsung Jalan Tanpa Press "Berangkat"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847725" y="3962400"/>
            <a:ext cx="29348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713F1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Dalam situasi sibuk, operator sering kali langsung membawa troli tanpa menyentuh tombol keberangkatan di aplikasi.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4392215" y="3352800"/>
            <a:ext cx="447243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66534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Auto-Departure Fallback Logic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4392215" y="3648075"/>
            <a:ext cx="350281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14532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 secara otomatis mengambil timestamp </a:t>
            </a:r>
            <a:r>
              <a:rPr b="1" i="0" lang="en-US" sz="975" u="none" cap="none" strike="noStrike">
                <a:solidFill>
                  <a:srgbClr val="14532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scan material terakhir</a:t>
            </a:r>
            <a:r>
              <a:rPr b="0" i="0" lang="en-US" sz="975" u="none" cap="none" strike="noStrike">
                <a:solidFill>
                  <a:srgbClr val="14532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sebagai nilai T1 saat operator melakukan scan QR Code di lokasi tujuan.</a:t>
            </a:r>
            <a:endParaRPr/>
          </a:p>
        </p:txBody>
      </p:sp>
      <p:sp>
        <p:nvSpPr>
          <p:cNvPr id="228" name="Google Shape;228;p17"/>
          <p:cNvSpPr txBox="1"/>
          <p:nvPr/>
        </p:nvSpPr>
        <p:spPr>
          <a:xfrm>
            <a:off x="4506515" y="4295775"/>
            <a:ext cx="327421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6653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Transaksi TETAP BERJALAN (0 Error / No Blocking)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8504634" y="3557587"/>
            <a:ext cx="368736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Flag Auto-Fallback Penanda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8504634" y="3852862"/>
            <a:ext cx="29348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 menyematkan tag AUTO_FALLBACK di dashboard SPV untuk keperluan briefing kepatuhan tanpa mengganggu operasional.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"/>
          <p:cNvSpPr/>
          <p:nvPr/>
        </p:nvSpPr>
        <p:spPr>
          <a:xfrm>
            <a:off x="609600" y="5924550"/>
            <a:ext cx="10972800" cy="476250"/>
          </a:xfrm>
          <a:prstGeom prst="roundRect">
            <a:avLst>
              <a:gd fmla="val 16000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8"/>
          <p:cNvSpPr/>
          <p:nvPr/>
        </p:nvSpPr>
        <p:spPr>
          <a:xfrm>
            <a:off x="609600" y="2914650"/>
            <a:ext cx="2628900" cy="1285875"/>
          </a:xfrm>
          <a:prstGeom prst="roundRect">
            <a:avLst>
              <a:gd fmla="val 8888" name="adj"/>
            </a:avLst>
          </a:prstGeom>
          <a:solidFill>
            <a:srgbClr val="F8FAFC"/>
          </a:solidFill>
          <a:ln cap="flat" cmpd="sng" w="381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8"/>
          <p:cNvSpPr/>
          <p:nvPr/>
        </p:nvSpPr>
        <p:spPr>
          <a:xfrm>
            <a:off x="609600" y="4191000"/>
            <a:ext cx="26289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8"/>
          <p:cNvSpPr/>
          <p:nvPr/>
        </p:nvSpPr>
        <p:spPr>
          <a:xfrm>
            <a:off x="609600" y="2914650"/>
            <a:ext cx="262890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8"/>
          <p:cNvSpPr/>
          <p:nvPr/>
        </p:nvSpPr>
        <p:spPr>
          <a:xfrm>
            <a:off x="609600" y="2914650"/>
            <a:ext cx="9525" cy="128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8"/>
          <p:cNvSpPr/>
          <p:nvPr/>
        </p:nvSpPr>
        <p:spPr>
          <a:xfrm>
            <a:off x="3228975" y="2914650"/>
            <a:ext cx="9525" cy="128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8"/>
          <p:cNvSpPr/>
          <p:nvPr/>
        </p:nvSpPr>
        <p:spPr>
          <a:xfrm>
            <a:off x="3390900" y="2914650"/>
            <a:ext cx="2628900" cy="1285875"/>
          </a:xfrm>
          <a:prstGeom prst="roundRect">
            <a:avLst>
              <a:gd fmla="val 8888" name="adj"/>
            </a:avLst>
          </a:prstGeom>
          <a:solidFill>
            <a:srgbClr val="F8FAFC"/>
          </a:solidFill>
          <a:ln cap="flat" cmpd="sng" w="381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8"/>
          <p:cNvSpPr/>
          <p:nvPr/>
        </p:nvSpPr>
        <p:spPr>
          <a:xfrm>
            <a:off x="3390900" y="4191000"/>
            <a:ext cx="26289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8"/>
          <p:cNvSpPr/>
          <p:nvPr/>
        </p:nvSpPr>
        <p:spPr>
          <a:xfrm>
            <a:off x="3390900" y="2914650"/>
            <a:ext cx="26289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8"/>
          <p:cNvSpPr/>
          <p:nvPr/>
        </p:nvSpPr>
        <p:spPr>
          <a:xfrm>
            <a:off x="3390900" y="2914650"/>
            <a:ext cx="9525" cy="128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8"/>
          <p:cNvSpPr/>
          <p:nvPr/>
        </p:nvSpPr>
        <p:spPr>
          <a:xfrm>
            <a:off x="6010275" y="2914650"/>
            <a:ext cx="9525" cy="128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8"/>
          <p:cNvSpPr/>
          <p:nvPr/>
        </p:nvSpPr>
        <p:spPr>
          <a:xfrm>
            <a:off x="6172200" y="2843212"/>
            <a:ext cx="2628900" cy="1428750"/>
          </a:xfrm>
          <a:prstGeom prst="roundRect">
            <a:avLst>
              <a:gd fmla="val 8000" name="adj"/>
            </a:avLst>
          </a:prstGeom>
          <a:solidFill>
            <a:srgbClr val="F8FAFC"/>
          </a:solidFill>
          <a:ln cap="flat" cmpd="sng" w="381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6172200" y="4262437"/>
            <a:ext cx="26289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6172200" y="2843212"/>
            <a:ext cx="26289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6172200" y="2843212"/>
            <a:ext cx="9525" cy="14287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/>
          <p:nvPr/>
        </p:nvSpPr>
        <p:spPr>
          <a:xfrm>
            <a:off x="8791575" y="2843212"/>
            <a:ext cx="9525" cy="14287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8"/>
          <p:cNvSpPr/>
          <p:nvPr/>
        </p:nvSpPr>
        <p:spPr>
          <a:xfrm>
            <a:off x="8953500" y="2843212"/>
            <a:ext cx="2628900" cy="1428750"/>
          </a:xfrm>
          <a:prstGeom prst="roundRect">
            <a:avLst>
              <a:gd fmla="val 8000" name="adj"/>
            </a:avLst>
          </a:prstGeom>
          <a:solidFill>
            <a:srgbClr val="F8FAFC"/>
          </a:solidFill>
          <a:ln cap="flat" cmpd="sng" w="381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8"/>
          <p:cNvSpPr/>
          <p:nvPr/>
        </p:nvSpPr>
        <p:spPr>
          <a:xfrm>
            <a:off x="8953500" y="4262437"/>
            <a:ext cx="26289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8"/>
          <p:cNvSpPr/>
          <p:nvPr/>
        </p:nvSpPr>
        <p:spPr>
          <a:xfrm>
            <a:off x="8953500" y="2843212"/>
            <a:ext cx="26289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8"/>
          <p:cNvSpPr/>
          <p:nvPr/>
        </p:nvSpPr>
        <p:spPr>
          <a:xfrm>
            <a:off x="8953500" y="2843212"/>
            <a:ext cx="9525" cy="14287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8"/>
          <p:cNvSpPr/>
          <p:nvPr/>
        </p:nvSpPr>
        <p:spPr>
          <a:xfrm>
            <a:off x="11572875" y="2843212"/>
            <a:ext cx="9525" cy="14287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8"/>
          <p:cNvSpPr txBox="1"/>
          <p:nvPr/>
        </p:nvSpPr>
        <p:spPr>
          <a:xfrm>
            <a:off x="609600" y="457200"/>
            <a:ext cx="183356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05. EXECUTION PLAN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9725025" y="457200"/>
            <a:ext cx="232171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Timeline Implementasi 5 Minggu</a:t>
            </a:r>
            <a:endParaRPr/>
          </a:p>
        </p:txBody>
      </p:sp>
      <p:sp>
        <p:nvSpPr>
          <p:cNvPr id="258" name="Google Shape;258;p18"/>
          <p:cNvSpPr txBox="1"/>
          <p:nvPr/>
        </p:nvSpPr>
        <p:spPr>
          <a:xfrm>
            <a:off x="609600" y="666750"/>
            <a:ext cx="115824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Tahapan Implementasi Menuju Go-Live Sistem</a:t>
            </a:r>
            <a:endParaRPr/>
          </a:p>
        </p:txBody>
      </p:sp>
      <p:sp>
        <p:nvSpPr>
          <p:cNvPr id="259" name="Google Shape;259;p18"/>
          <p:cNvSpPr txBox="1"/>
          <p:nvPr/>
        </p:nvSpPr>
        <p:spPr>
          <a:xfrm>
            <a:off x="838200" y="3143250"/>
            <a:ext cx="2266950" cy="828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MINGGU 1 - 2</a:t>
            </a:r>
            <a:endParaRPr/>
          </a:p>
        </p:txBody>
      </p:sp>
      <p:sp>
        <p:nvSpPr>
          <p:cNvPr id="260" name="Google Shape;260;p18"/>
          <p:cNvSpPr txBox="1"/>
          <p:nvPr/>
        </p:nvSpPr>
        <p:spPr>
          <a:xfrm>
            <a:off x="3619500" y="3143250"/>
            <a:ext cx="2266950" cy="828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MINGGU 3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6400800" y="3071812"/>
            <a:ext cx="2266950" cy="971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6366F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MINGGU 4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9182100" y="3071812"/>
            <a:ext cx="2266950" cy="971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16A34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MINGGU 5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771525" y="6086475"/>
            <a:ext cx="4262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Kebutuhan Hardware:</a:t>
            </a: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Tablet / PDA Scanner Gun eksisting.</a:t>
            </a:r>
            <a:endParaRPr/>
          </a:p>
        </p:txBody>
      </p:sp>
      <p:sp>
        <p:nvSpPr>
          <p:cNvPr id="264" name="Google Shape;264;p18"/>
          <p:cNvSpPr txBox="1"/>
          <p:nvPr/>
        </p:nvSpPr>
        <p:spPr>
          <a:xfrm>
            <a:off x="7467600" y="6086475"/>
            <a:ext cx="47244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Deployment:</a:t>
            </a:r>
            <a:r>
              <a:rPr b="0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Self-Hosted Local Server (Tanpa Biaya Cloud Bulanan).</a:t>
            </a:r>
            <a:endParaRPr/>
          </a:p>
        </p:txBody>
      </p:sp>
      <p:sp>
        <p:nvSpPr>
          <p:cNvPr id="265" name="Google Shape;265;p18"/>
          <p:cNvSpPr txBox="1"/>
          <p:nvPr/>
        </p:nvSpPr>
        <p:spPr>
          <a:xfrm>
            <a:off x="847725" y="3438525"/>
            <a:ext cx="282535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Phase 1: Setup Master Data</a:t>
            </a:r>
            <a:endParaRPr/>
          </a:p>
        </p:txBody>
      </p:sp>
      <p:sp>
        <p:nvSpPr>
          <p:cNvPr id="266" name="Google Shape;266;p18"/>
          <p:cNvSpPr txBox="1"/>
          <p:nvPr/>
        </p:nvSpPr>
        <p:spPr>
          <a:xfrm>
            <a:off x="847725" y="3676650"/>
            <a:ext cx="22479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Pemasangan stiker QR Code di lokasi rak gudang &amp; stasiun line tujuan.</a:t>
            </a:r>
            <a:endParaRPr/>
          </a:p>
        </p:txBody>
      </p:sp>
      <p:sp>
        <p:nvSpPr>
          <p:cNvPr id="267" name="Google Shape;267;p18"/>
          <p:cNvSpPr txBox="1"/>
          <p:nvPr/>
        </p:nvSpPr>
        <p:spPr>
          <a:xfrm>
            <a:off x="3629025" y="3438525"/>
            <a:ext cx="282535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Phase 2: Pilot Line Testing</a:t>
            </a:r>
            <a:endParaRPr/>
          </a:p>
        </p:txBody>
      </p:sp>
      <p:sp>
        <p:nvSpPr>
          <p:cNvPr id="268" name="Google Shape;268;p18"/>
          <p:cNvSpPr txBox="1"/>
          <p:nvPr/>
        </p:nvSpPr>
        <p:spPr>
          <a:xfrm>
            <a:off x="3629025" y="3676650"/>
            <a:ext cx="22479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Uji coba pada 1 lini pilot untuk memverifikasi alur scan &amp; fallback logic.</a:t>
            </a:r>
            <a:endParaRPr/>
          </a:p>
        </p:txBody>
      </p:sp>
      <p:sp>
        <p:nvSpPr>
          <p:cNvPr id="269" name="Google Shape;269;p18"/>
          <p:cNvSpPr txBox="1"/>
          <p:nvPr/>
        </p:nvSpPr>
        <p:spPr>
          <a:xfrm>
            <a:off x="6410325" y="3367087"/>
            <a:ext cx="282535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Phase 3: Training Operator</a:t>
            </a:r>
            <a:endParaRPr/>
          </a:p>
        </p:txBody>
      </p:sp>
      <p:sp>
        <p:nvSpPr>
          <p:cNvPr id="270" name="Google Shape;270;p18"/>
          <p:cNvSpPr txBox="1"/>
          <p:nvPr/>
        </p:nvSpPr>
        <p:spPr>
          <a:xfrm>
            <a:off x="6410325" y="3605212"/>
            <a:ext cx="22479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Briefing hands-free scanning &amp; sosialisasi penggunaan untuk seluruh shift.</a:t>
            </a:r>
            <a:endParaRPr/>
          </a:p>
        </p:txBody>
      </p:sp>
      <p:sp>
        <p:nvSpPr>
          <p:cNvPr id="271" name="Google Shape;271;p18"/>
          <p:cNvSpPr txBox="1"/>
          <p:nvPr/>
        </p:nvSpPr>
        <p:spPr>
          <a:xfrm>
            <a:off x="9191625" y="3367087"/>
            <a:ext cx="282535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Phase 4: Full Go-Live</a:t>
            </a:r>
            <a:endParaRPr/>
          </a:p>
        </p:txBody>
      </p:sp>
      <p:sp>
        <p:nvSpPr>
          <p:cNvPr id="272" name="Google Shape;272;p18"/>
          <p:cNvSpPr txBox="1"/>
          <p:nvPr/>
        </p:nvSpPr>
        <p:spPr>
          <a:xfrm>
            <a:off x="9191625" y="3605212"/>
            <a:ext cx="22479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Penerapan penuh dan pemantauan KPI Lead Time pada Dashboard GM/Manager.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9"/>
          <p:cNvSpPr/>
          <p:nvPr/>
        </p:nvSpPr>
        <p:spPr>
          <a:xfrm>
            <a:off x="609600" y="5848350"/>
            <a:ext cx="109728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9"/>
          <p:cNvSpPr/>
          <p:nvPr/>
        </p:nvSpPr>
        <p:spPr>
          <a:xfrm>
            <a:off x="609600" y="3421856"/>
            <a:ext cx="5372100" cy="1247775"/>
          </a:xfrm>
          <a:prstGeom prst="roundRect">
            <a:avLst>
              <a:gd fmla="val 9160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9"/>
          <p:cNvSpPr/>
          <p:nvPr/>
        </p:nvSpPr>
        <p:spPr>
          <a:xfrm>
            <a:off x="6210300" y="3421856"/>
            <a:ext cx="5372100" cy="1247775"/>
          </a:xfrm>
          <a:prstGeom prst="roundRect">
            <a:avLst>
              <a:gd fmla="val 9160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9"/>
          <p:cNvSpPr/>
          <p:nvPr/>
        </p:nvSpPr>
        <p:spPr>
          <a:xfrm>
            <a:off x="609600" y="584835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1" name="Google Shape;28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3659981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425" y="365998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9"/>
          <p:cNvSpPr txBox="1"/>
          <p:nvPr/>
        </p:nvSpPr>
        <p:spPr>
          <a:xfrm>
            <a:off x="609600" y="609600"/>
            <a:ext cx="11068050" cy="1633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06. APPROVAL REQUEST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609600" y="904875"/>
            <a:ext cx="1158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Rekomendasi Keputusan Management</a:t>
            </a:r>
            <a:endParaRPr/>
          </a:p>
        </p:txBody>
      </p:sp>
      <p:sp>
        <p:nvSpPr>
          <p:cNvPr id="285" name="Google Shape;285;p19"/>
          <p:cNvSpPr txBox="1"/>
          <p:nvPr/>
        </p:nvSpPr>
        <p:spPr>
          <a:xfrm>
            <a:off x="609600" y="1514475"/>
            <a:ext cx="8191500" cy="728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Penerapan ZEVA Logistik Material v1.6 merupakan langkah strategis untuk mentransformasi pelacakan suplai material berbasis fakta Gemba, meningkatkan efisiensi lini, dan menjamin 100% akurasi penyerahan komponen.</a:t>
            </a:r>
            <a:endParaRPr/>
          </a:p>
        </p:txBody>
      </p:sp>
      <p:sp>
        <p:nvSpPr>
          <p:cNvPr id="286" name="Google Shape;286;p19"/>
          <p:cNvSpPr txBox="1"/>
          <p:nvPr/>
        </p:nvSpPr>
        <p:spPr>
          <a:xfrm>
            <a:off x="609600" y="6048375"/>
            <a:ext cx="41910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Mohon Arahan &amp; Persetujuan General Manager</a:t>
            </a:r>
            <a:endParaRPr/>
          </a:p>
        </p:txBody>
      </p:sp>
      <p:sp>
        <p:nvSpPr>
          <p:cNvPr id="287" name="Google Shape;287;p19"/>
          <p:cNvSpPr txBox="1"/>
          <p:nvPr/>
        </p:nvSpPr>
        <p:spPr>
          <a:xfrm>
            <a:off x="9144000" y="6072187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ZEVA Logistik Material v1.6 Executive Deck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847725" y="4002881"/>
            <a:ext cx="642580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Persetujuan Pilot Project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847725" y="4279106"/>
            <a:ext cx="611981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Izin pelaksanaan uji coba pada 1 Lini Pilot selama 1 minggu.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6448425" y="4002881"/>
            <a:ext cx="57435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Cetak Stiker QR Code</a:t>
            </a:r>
            <a:endParaRPr/>
          </a:p>
        </p:txBody>
      </p:sp>
      <p:sp>
        <p:nvSpPr>
          <p:cNvPr id="291" name="Google Shape;291;p19"/>
          <p:cNvSpPr txBox="1"/>
          <p:nvPr/>
        </p:nvSpPr>
        <p:spPr>
          <a:xfrm>
            <a:off x="6448425" y="4279106"/>
            <a:ext cx="57435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Pemasangan stiker QR Code master di rak dan lokasi line tujuan.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